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C99D"/>
                </a:solidFill>
                <a:latin typeface="Aptos"/>
              </a:rPr>
              <a:t>SMART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Digital Payment Feature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58521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CFDCE9"/>
                </a:solidFill>
                <a:latin typeface="Aptos"/>
              </a:rPr>
              <a:t>A smarter payment experience built around speed, clarity, organisation and useful financial insights.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492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6BED3"/>
                </a:solidFill>
                <a:latin typeface="Aptos"/>
              </a:rPr>
              <a:t>Independent Product Concept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51192" y="987551"/>
            <a:ext cx="2188868" cy="460857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19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51560"/>
            <a:ext cx="2060852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77072" y="1216151"/>
            <a:ext cx="2188868" cy="460857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G_2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280160"/>
            <a:ext cx="2060852" cy="44805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902952" y="1444751"/>
            <a:ext cx="2188868" cy="460857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2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1508760"/>
            <a:ext cx="206085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Proposal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Four product concepts for easier payments, clearer spending records, subscription awareness and relevant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Scan-to-Pay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8600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Capture a printed or displayed account number and reduce manual entry.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60020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1801368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Payment Categorisation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Describe a payment with one tap, such as Groceries, Transport or Education.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77639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950207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Subscription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43484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Let users mark eligible card payments as subscriptions and begin tracking recurring spending.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749039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977639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C99D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950207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Email News &amp; Offers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4434840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C778B"/>
                </a:solidFill>
                <a:latin typeface="Aptos"/>
              </a:rPr>
              <a:t>Send consent-based news and offers by email when they are relevant to a customer's spending categories.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1 — Scan-to-Pay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Replace error-prone manual typing with camera-assisted account capture.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19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5544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How it works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205740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84831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03911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36829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The user points the camera at a clearly printed account number or a picture, receipt, invoice, POS display, sign or other image where the business account number is clearly visible.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315468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182112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313639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46557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The app detects the account number using image/text recognition and converts it into editable digital text.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425196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279392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23367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Resolve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56285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Using the captured number and selected or detected bank, the system performs the normal account-name enquiry.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5349240"/>
            <a:ext cx="475488" cy="475488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5376672"/>
            <a:ext cx="4754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330952"/>
            <a:ext cx="6035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C2640"/>
                </a:solidFill>
                <a:latin typeface="Aptos"/>
              </a:rPr>
              <a:t>Confirm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660136"/>
            <a:ext cx="603504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0">
                <a:solidFill>
                  <a:srgbClr val="6C778B"/>
                </a:solidFill>
                <a:latin typeface="Aptos"/>
              </a:rPr>
              <a:t>The user reviews the retrieved recipient details before proceeding with the transfer.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Recipient Verification Before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Scanning should accelerate data entry—not remove the user's final confirmation.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19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55448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Proposed confirmation screen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Display the captured account number prominently.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Automatically show the bank and recipient name returned by account verification.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Require the user to visually confirm the recipient before continuing.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Provide “Scan again” and manual-entry fallbacks when the capture is incorrect.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Keep a clear warning that transfers should only proceed after the recipient name is 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71500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2640"/>
                </a:solidFill>
                <a:latin typeface="Aptos"/>
              </a:rPr>
              <a:t>Expected benefit: fewer typing errors, faster transfers and stronger confidence at the point of payment.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2 — One-Tap Payment Categorisation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Let customers describe a payment quickly by selecting a simple category instead of typing a description.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2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5544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Why this improves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583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After recipient verification, ask: “What is this payment for?”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Offer clear categories such as Food &amp; Groceries, Shopping, Rent &amp; Utilities, Education, Health, Transport, Savings, Gift and Other.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Save the selected category with the transaction automatically.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Use categories to improve the quality of the user's Digital Paymental Wrap/spending summary.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Reduce dependence on free-text descriptions, which are often skipped, inconsistent or too vague to analyse.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806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C99D"/>
                </a:solidFill>
                <a:latin typeface="Aptos"/>
              </a:rPr>
              <a:t>User value: one tap now creates better records later.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3 — Subscription Tracker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Allow customers to identify eligible card payments as subscriptions so recurring spending can be tracked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2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5544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How it could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583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Total estimated monthly subscription spend.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Number of active subscriptions.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Individual services and expected renewal dates.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Amount expected for each upcoming renewal.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Attention cues for payments due soon, such as “Tomorrow”.</a:t>
            </a:r>
          </a:p>
          <a:p>
            <a:pPr>
              <a:spcAft>
                <a:spcPts val="900"/>
              </a:spcAft>
              <a:defRPr sz="1650">
                <a:solidFill>
                  <a:srgbClr val="171930"/>
                </a:solidFill>
                <a:latin typeface="Aptos"/>
              </a:defRPr>
            </a:pPr>
            <a:r>
              <a:t>•  A management entry point for reviewing or updating tracked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5669280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C2640"/>
                </a:solidFill>
                <a:latin typeface="Aptos"/>
              </a:rPr>
              <a:t>Customer confirmation keeps subscription tracking intentional while making recurring expenses easier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Feature 4 — Relevant News &amp; Offers via Email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Send useful news and relevant offers by email instead of creating another promotional area inside the 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353312"/>
            <a:ext cx="2336072" cy="4928616"/>
          </a:xfrm>
          <a:prstGeom prst="roundRect">
            <a:avLst/>
          </a:prstGeom>
          <a:solidFill>
            <a:srgbClr val="FFFFFF"/>
          </a:solidFill>
          <a:ln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2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2208056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0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How email relevance could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658368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Provide quick access to frequently used services such as Send Money, Airtime, Pay Bills and Transaction History.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Show current promotions, discounts, free trials or service announcements from participating merchants and platforms.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Prioritise offers relevant to the user's normal app activity or spending categories, where consent and privacy rules allow.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Use clear labels such as “15% OFF”, “₦2,000 OFF”, “FREE” or “LIMITED” so users understand the value immediately.</a:t>
            </a:r>
          </a:p>
          <a:p>
            <a:pPr>
              <a:spcAft>
                <a:spcPts val="900"/>
              </a:spcAft>
              <a:defRPr sz="1550">
                <a:solidFill>
                  <a:srgbClr val="171930"/>
                </a:solidFill>
                <a:latin typeface="Aptos"/>
              </a:defRPr>
            </a:pPr>
            <a:r>
              <a:t>•  Give users a single place to discover useful information without interrupting the core payment 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Proposed End-to-End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The concepts can work independently, while also complementing one another.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Capture payment details</a:t>
            </a:r>
          </a:p>
        </p:txBody>
      </p:sp>
      <p:sp>
        <p:nvSpPr>
          <p:cNvPr id="11" name="Oval 10"/>
          <p:cNvSpPr/>
          <p:nvPr/>
        </p:nvSpPr>
        <p:spPr>
          <a:xfrm>
            <a:off x="2944368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84448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Confirm bank &amp; recipient</a:t>
            </a:r>
          </a:p>
        </p:txBody>
      </p:sp>
      <p:sp>
        <p:nvSpPr>
          <p:cNvPr id="16" name="Oval 15"/>
          <p:cNvSpPr/>
          <p:nvPr/>
        </p:nvSpPr>
        <p:spPr>
          <a:xfrm>
            <a:off x="4882896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22976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Categorise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Choose payment purpose</a:t>
            </a:r>
          </a:p>
        </p:txBody>
      </p:sp>
      <p:sp>
        <p:nvSpPr>
          <p:cNvPr id="21" name="Oval 20"/>
          <p:cNvSpPr/>
          <p:nvPr/>
        </p:nvSpPr>
        <p:spPr>
          <a:xfrm>
            <a:off x="6821424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1504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Complete transfer</a:t>
            </a:r>
          </a:p>
        </p:txBody>
      </p:sp>
      <p:sp>
        <p:nvSpPr>
          <p:cNvPr id="26" name="Oval 25"/>
          <p:cNvSpPr/>
          <p:nvPr/>
        </p:nvSpPr>
        <p:spPr>
          <a:xfrm>
            <a:off x="8759952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00032" y="2212848"/>
            <a:ext cx="1298448" cy="45720"/>
          </a:xfrm>
          <a:prstGeom prst="rect">
            <a:avLst/>
          </a:prstGeom>
          <a:solidFill>
            <a:srgbClr val="BE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2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Update spending records</a:t>
            </a:r>
          </a:p>
        </p:txBody>
      </p:sp>
      <p:sp>
        <p:nvSpPr>
          <p:cNvPr id="31" name="Oval 30"/>
          <p:cNvSpPr/>
          <p:nvPr/>
        </p:nvSpPr>
        <p:spPr>
          <a:xfrm>
            <a:off x="10698480" y="1920240"/>
            <a:ext cx="640080" cy="640080"/>
          </a:xfrm>
          <a:prstGeom prst="ellipse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98480" y="203911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78892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C2640"/>
                </a:solidFill>
                <a:latin typeface="Aptos"/>
              </a:rPr>
              <a:t>Inform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3200400"/>
            <a:ext cx="1645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>
                <a:solidFill>
                  <a:srgbClr val="6C778B"/>
                </a:solidFill>
                <a:latin typeface="Aptos"/>
              </a:rPr>
              <a:t>Track subscriptions &amp; receive relevant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70916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0C99D"/>
                </a:solidFill>
                <a:latin typeface="Aptos"/>
              </a:rPr>
              <a:t>Outcome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120640"/>
            <a:ext cx="107899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0C2640"/>
                </a:solidFill>
                <a:latin typeface="Aptos"/>
              </a:rPr>
              <a:t>A faster payment flow + clearer transaction records + better subscription awareness + more relevant opt-in email communication.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Why This Proposal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The concepts focus on convenience, organisation, recurring-payment awareness and relevant customer communication.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56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Less manual typing during transfers.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00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856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286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Reduced account-number entry mistakes with a verification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002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8562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Organisation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2860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Consistent categories create cleaner transaction histories.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Subscription visibility helps users anticipate recurring expenses.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Engagement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4343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Relevant opt-in emails can reduce unrelated promotional communication.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65760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391363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C2640"/>
                </a:solidFill>
                <a:latin typeface="Aptos"/>
              </a:rPr>
              <a:t>Insight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43434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6C778B"/>
                </a:solidFill>
                <a:latin typeface="Aptos"/>
              </a:rPr>
              <a:t>Structured transaction data can strengthen future Digital Paymental Wrap summaries and personal finance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C2640"/>
                </a:solidFill>
                <a:latin typeface="Aptos"/>
              </a:rPr>
              <a:t>Recommended MVP &amp; Implementation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15568"/>
            <a:ext cx="640080" cy="54864"/>
          </a:xfrm>
          <a:prstGeom prst="rect">
            <a:avLst/>
          </a:prstGeom>
          <a:solidFill>
            <a:srgbClr val="00C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969264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C778B"/>
                </a:solidFill>
                <a:latin typeface="Aptos"/>
              </a:rPr>
              <a:t>Prototype the concepts independently, validate customer value, and prioritise privacy and user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MVP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8404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1. Scan account number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2. Confirm bank and recipient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3. Select payment category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4. Save category with transaction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5. Add subscription dashboard</a:t>
            </a:r>
          </a:p>
          <a:p>
            <a:pPr>
              <a:spcAft>
                <a:spcPts val="900"/>
              </a:spcAft>
              <a:defRPr sz="1700">
                <a:solidFill>
                  <a:srgbClr val="171930"/>
                </a:solidFill>
                <a:latin typeface="Aptos"/>
              </a:defRPr>
            </a:pPr>
            <a:r>
              <a:t>•  6. Add consent-based email news/offers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50876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C2640"/>
                </a:solidFill>
                <a:latin typeface="Aptos"/>
              </a:rPr>
              <a:t>Key safeguards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65960"/>
            <a:ext cx="6492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Always keep manual entry available.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Never rely on image recognition alone to validate a recipient; use the bank/account verification service.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Ask users to confirm the recipient name before payment.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Handle unclear images and unsupported formats gracefully.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Use category-based email personalisation only with appropriate consent, privacy controls, transparent data use and easy unsubscribe options.</a:t>
            </a:r>
          </a:p>
          <a:p>
            <a:pPr>
              <a:spcAft>
                <a:spcPts val="900"/>
              </a:spcAft>
              <a:defRPr sz="1600">
                <a:solidFill>
                  <a:srgbClr val="171930"/>
                </a:solidFill>
                <a:latin typeface="Aptos"/>
              </a:defRPr>
            </a:pPr>
            <a:r>
              <a:t>•  Measure scan success rate, correction rate, completion time and category-selection rate.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Small payment improvements can create a clearer and more useful customer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18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C99D"/>
                </a:solidFill>
                <a:latin typeface="Aptos"/>
              </a:rPr>
              <a:t>Scan → Verify → Categorise → Identify Subscription → Track →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77639"/>
            <a:ext cx="85039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CFDCE9"/>
                </a:solidFill>
                <a:latin typeface="Aptos"/>
              </a:rPr>
              <a:t>Concept next step: prototype Scan-to-Pay, categorisation and subscription identification, then test usability, accuracy and customer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