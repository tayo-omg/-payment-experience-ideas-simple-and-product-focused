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C99D"/>
                </a:solidFill>
                <a:latin typeface="Aptos"/>
              </a:rPr>
              <a:t>SMART PAYMENTS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6583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Digital Payment Feature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58521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CFDCE9"/>
                </a:solidFill>
                <a:latin typeface="Aptos"/>
              </a:rPr>
              <a:t>A smarter payment experience built around speed, clarity, organisation and useful financial insights.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492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6BED3"/>
                </a:solidFill>
                <a:latin typeface="Aptos"/>
              </a:rPr>
              <a:t>Independent Product Concept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51192" y="987551"/>
            <a:ext cx="2188868" cy="4608576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77072" y="1216151"/>
            <a:ext cx="2188868" cy="4608576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902952" y="1444751"/>
            <a:ext cx="2188868" cy="4608576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051560"/>
            <a:ext cx="2060852" cy="448056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0" y="1280160"/>
            <a:ext cx="2060852" cy="448056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6960" y="1508760"/>
            <a:ext cx="2060852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2640"/>
                </a:solidFill>
                <a:latin typeface="Aptos"/>
              </a:rPr>
              <a:t>Proposal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640080" cy="54864"/>
          </a:xfrm>
          <a:prstGeom prst="rect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96926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C778B"/>
                </a:solidFill>
                <a:latin typeface="Aptos"/>
              </a:rPr>
              <a:t>Four product concepts for easier payments, clearer spending records, subscription awareness and relevant communication.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074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4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C99D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801368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C2640"/>
                </a:solidFill>
                <a:latin typeface="Aptos"/>
              </a:rPr>
              <a:t>Scan-to-Pay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286000"/>
            <a:ext cx="3611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6C778B"/>
                </a:solidFill>
                <a:latin typeface="Aptos"/>
              </a:rPr>
              <a:t>Capture a printed or displayed account number and reduce manual entry.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00200"/>
            <a:ext cx="5074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4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828800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C99D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801368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C2640"/>
                </a:solidFill>
                <a:latin typeface="Aptos"/>
              </a:rPr>
              <a:t>Payment Categorisation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286000"/>
            <a:ext cx="3611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6C778B"/>
                </a:solidFill>
                <a:latin typeface="Aptos"/>
              </a:rPr>
              <a:t>Describe a payment with one tap, such as Groceries, Transport or Education.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5074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4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977639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C99D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950207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C2640"/>
                </a:solidFill>
                <a:latin typeface="Aptos"/>
              </a:rPr>
              <a:t>Subscription Tracker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434840"/>
            <a:ext cx="3611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6C778B"/>
                </a:solidFill>
                <a:latin typeface="Aptos"/>
              </a:rPr>
              <a:t>Let users mark eligible card payments as subscriptions and begin tracking recurring spending.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49039"/>
            <a:ext cx="5074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4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977639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C99D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3950207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C2640"/>
                </a:solidFill>
                <a:latin typeface="Aptos"/>
              </a:rPr>
              <a:t>Email News &amp; Offers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4434840"/>
            <a:ext cx="3611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6C778B"/>
                </a:solidFill>
                <a:latin typeface="Aptos"/>
              </a:rPr>
              <a:t>Send consent-based news and offers by email when they are relevant to a customer's spending categories.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2640"/>
                </a:solidFill>
                <a:latin typeface="Aptos"/>
              </a:rPr>
              <a:t>Feature 1 — Scan-to-Pay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640080" cy="54864"/>
          </a:xfrm>
          <a:prstGeom prst="rect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96926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C778B"/>
                </a:solidFill>
                <a:latin typeface="Aptos"/>
              </a:rPr>
              <a:t>Replace error-prone manual typing with camera-assisted account capture.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353312"/>
            <a:ext cx="2336072" cy="4928616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C2640"/>
                </a:solidFill>
                <a:latin typeface="Aptos"/>
              </a:rPr>
              <a:t>How it works</a:t>
            </a:r>
          </a:p>
        </p:txBody>
      </p:sp>
      <p:sp>
        <p:nvSpPr>
          <p:cNvPr id="9" name="Oval 8"/>
          <p:cNvSpPr/>
          <p:nvPr/>
        </p:nvSpPr>
        <p:spPr>
          <a:xfrm>
            <a:off x="4572000" y="2057400"/>
            <a:ext cx="475488" cy="475488"/>
          </a:xfrm>
          <a:prstGeom prst="ellipse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84831"/>
            <a:ext cx="4754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039112"/>
            <a:ext cx="6035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C2640"/>
                </a:solidFill>
                <a:latin typeface="Aptos"/>
              </a:rPr>
              <a:t>Capture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368296"/>
            <a:ext cx="603504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6C778B"/>
                </a:solidFill>
                <a:latin typeface="Aptos"/>
              </a:rPr>
              <a:t>The user points the camera at a clearly printed account number or a picture, receipt, invoice, POS display, sign or other image where the business account number is clearly visible.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0" y="3154680"/>
            <a:ext cx="475488" cy="475488"/>
          </a:xfrm>
          <a:prstGeom prst="ellipse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182112"/>
            <a:ext cx="4754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136392"/>
            <a:ext cx="6035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C2640"/>
                </a:solidFill>
                <a:latin typeface="Aptos"/>
              </a:rPr>
              <a:t>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465576"/>
            <a:ext cx="603504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6C778B"/>
                </a:solidFill>
                <a:latin typeface="Aptos"/>
              </a:rPr>
              <a:t>The app detects the account number using image/text recognition and converts it into editable digital text.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0" y="4251960"/>
            <a:ext cx="475488" cy="475488"/>
          </a:xfrm>
          <a:prstGeom prst="ellipse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279392"/>
            <a:ext cx="4754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233672"/>
            <a:ext cx="6035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C2640"/>
                </a:solidFill>
                <a:latin typeface="Aptos"/>
              </a:rPr>
              <a:t>Resolve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562856"/>
            <a:ext cx="603504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6C778B"/>
                </a:solidFill>
                <a:latin typeface="Aptos"/>
              </a:rPr>
              <a:t>Using the captured number and selected or detected bank, the system performs the normal account-name enquiry.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0" y="5349240"/>
            <a:ext cx="475488" cy="475488"/>
          </a:xfrm>
          <a:prstGeom prst="ellipse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5376672"/>
            <a:ext cx="4754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5330952"/>
            <a:ext cx="6035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C2640"/>
                </a:solidFill>
                <a:latin typeface="Aptos"/>
              </a:rPr>
              <a:t>Confirm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5660136"/>
            <a:ext cx="603504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6C778B"/>
                </a:solidFill>
                <a:latin typeface="Aptos"/>
              </a:rPr>
              <a:t>The user reviews the retrieved recipient details before proceeding with the transfer.</a:t>
            </a:r>
          </a:p>
        </p:txBody>
      </p:sp>
      <p:pic>
        <p:nvPicPr>
          <p:cNvPr id="25" name="Picture 24" descr="sc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2208056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2640"/>
                </a:solidFill>
                <a:latin typeface="Aptos"/>
              </a:rPr>
              <a:t>Recipient Verification Before Transfer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640080" cy="54864"/>
          </a:xfrm>
          <a:prstGeom prst="rect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96926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C778B"/>
                </a:solidFill>
                <a:latin typeface="Aptos"/>
              </a:rPr>
              <a:t>Scanning should accelerate data entry—not remove the user's final confirmation.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353312"/>
            <a:ext cx="2336072" cy="4928616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C2640"/>
                </a:solidFill>
                <a:latin typeface="Aptos"/>
              </a:rPr>
              <a:t>Proposed confirmation screen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6583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71930"/>
                </a:solidFill>
                <a:latin typeface="Aptos"/>
              </a:defRPr>
            </a:pPr>
            <a:r>
              <a:t>•  Display the captured account number prominently.</a:t>
            </a:r>
          </a:p>
          <a:p>
            <a:pPr>
              <a:spcAft>
                <a:spcPts val="900"/>
              </a:spcAft>
              <a:defRPr sz="1700">
                <a:solidFill>
                  <a:srgbClr val="171930"/>
                </a:solidFill>
                <a:latin typeface="Aptos"/>
              </a:defRPr>
            </a:pPr>
            <a:r>
              <a:t>•  Automatically show the bank and recipient name returned by account verification.</a:t>
            </a:r>
          </a:p>
          <a:p>
            <a:pPr>
              <a:spcAft>
                <a:spcPts val="900"/>
              </a:spcAft>
              <a:defRPr sz="1700">
                <a:solidFill>
                  <a:srgbClr val="171930"/>
                </a:solidFill>
                <a:latin typeface="Aptos"/>
              </a:defRPr>
            </a:pPr>
            <a:r>
              <a:t>•  Require the user to visually confirm the recipient before continuing.</a:t>
            </a:r>
          </a:p>
          <a:p>
            <a:pPr>
              <a:spcAft>
                <a:spcPts val="900"/>
              </a:spcAft>
              <a:defRPr sz="1700">
                <a:solidFill>
                  <a:srgbClr val="171930"/>
                </a:solidFill>
                <a:latin typeface="Aptos"/>
              </a:defRPr>
            </a:pPr>
            <a:r>
              <a:t>•  Provide “Scan again” and manual-entry fallbacks when the capture is incorrect.</a:t>
            </a:r>
          </a:p>
          <a:p>
            <a:pPr>
              <a:spcAft>
                <a:spcPts val="900"/>
              </a:spcAft>
              <a:defRPr sz="1700">
                <a:solidFill>
                  <a:srgbClr val="171930"/>
                </a:solidFill>
                <a:latin typeface="Aptos"/>
              </a:defRPr>
            </a:pPr>
            <a:r>
              <a:t>•  Keep a clear warning that transfers should only proceed after the recipient name is verified.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715000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C2640"/>
                </a:solidFill>
                <a:latin typeface="Aptos"/>
              </a:rPr>
              <a:t>Expected benefit: fewer typing errors, faster transfers and stronger confidence at the point of payment.</a:t>
            </a:r>
          </a:p>
        </p:txBody>
      </p:sp>
      <p:pic>
        <p:nvPicPr>
          <p:cNvPr id="11" name="Picture 10" descr="veri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2208056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2640"/>
                </a:solidFill>
                <a:latin typeface="Aptos"/>
              </a:rPr>
              <a:t>Feature 2 — One-Tap Payment Categorisation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640080" cy="54864"/>
          </a:xfrm>
          <a:prstGeom prst="rect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96926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C778B"/>
                </a:solidFill>
                <a:latin typeface="Aptos"/>
              </a:rPr>
              <a:t>Let customers describe a payment quickly by selecting a simple category instead of typing a description.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353312"/>
            <a:ext cx="2336072" cy="4928616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C2640"/>
                </a:solidFill>
                <a:latin typeface="Aptos"/>
              </a:rPr>
              <a:t>Why this improves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57400"/>
            <a:ext cx="6583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71930"/>
                </a:solidFill>
                <a:latin typeface="Aptos"/>
              </a:defRPr>
            </a:pPr>
            <a:r>
              <a:t>•  After recipient verification, ask: “What is this payment for?”</a:t>
            </a:r>
          </a:p>
          <a:p>
            <a:pPr>
              <a:spcAft>
                <a:spcPts val="900"/>
              </a:spcAft>
              <a:defRPr sz="1650">
                <a:solidFill>
                  <a:srgbClr val="171930"/>
                </a:solidFill>
                <a:latin typeface="Aptos"/>
              </a:defRPr>
            </a:pPr>
            <a:r>
              <a:t>•  Offer clear categories such as Food &amp; Groceries, Shopping, Rent &amp; Utilities, Education, Health, Transport, Savings, Gift and Other.</a:t>
            </a:r>
          </a:p>
          <a:p>
            <a:pPr>
              <a:spcAft>
                <a:spcPts val="900"/>
              </a:spcAft>
              <a:defRPr sz="1650">
                <a:solidFill>
                  <a:srgbClr val="171930"/>
                </a:solidFill>
                <a:latin typeface="Aptos"/>
              </a:defRPr>
            </a:pPr>
            <a:r>
              <a:t>•  Save the selected category with the transaction automatically.</a:t>
            </a:r>
          </a:p>
          <a:p>
            <a:pPr>
              <a:spcAft>
                <a:spcPts val="900"/>
              </a:spcAft>
              <a:defRPr sz="1650">
                <a:solidFill>
                  <a:srgbClr val="171930"/>
                </a:solidFill>
                <a:latin typeface="Aptos"/>
              </a:defRPr>
            </a:pPr>
            <a:r>
              <a:t>•  Use categories to improve the quality of the user's Digital Paymental Wrap/spending summary.</a:t>
            </a:r>
          </a:p>
          <a:p>
            <a:pPr>
              <a:spcAft>
                <a:spcPts val="900"/>
              </a:spcAft>
              <a:defRPr sz="1650">
                <a:solidFill>
                  <a:srgbClr val="171930"/>
                </a:solidFill>
                <a:latin typeface="Aptos"/>
              </a:defRPr>
            </a:pPr>
            <a:r>
              <a:t>•  Reduce dependence on free-text descriptions, which are often skipped, inconsistent or too vague to analyse.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80644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C99D"/>
                </a:solidFill>
                <a:latin typeface="Aptos"/>
              </a:rPr>
              <a:t>User value: one tap now creates better records later.</a:t>
            </a:r>
          </a:p>
        </p:txBody>
      </p:sp>
      <p:pic>
        <p:nvPicPr>
          <p:cNvPr id="11" name="Picture 10" descr="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2208056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2640"/>
                </a:solidFill>
                <a:latin typeface="Aptos"/>
              </a:rPr>
              <a:t>Feature 3 — Subscription Tracker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640080" cy="54864"/>
          </a:xfrm>
          <a:prstGeom prst="rect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96926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C778B"/>
                </a:solidFill>
                <a:latin typeface="Aptos"/>
              </a:rPr>
              <a:t>Allow customers to identify eligible card payments as subscriptions so recurring spending can be tracked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353312"/>
            <a:ext cx="2336072" cy="4928616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C2640"/>
                </a:solidFill>
                <a:latin typeface="Aptos"/>
              </a:rPr>
              <a:t>How it could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57400"/>
            <a:ext cx="6583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71930"/>
                </a:solidFill>
                <a:latin typeface="Aptos"/>
              </a:defRPr>
            </a:pPr>
            <a:r>
              <a:t>•  Total estimated monthly subscription spend.</a:t>
            </a:r>
          </a:p>
          <a:p>
            <a:pPr>
              <a:spcAft>
                <a:spcPts val="900"/>
              </a:spcAft>
              <a:defRPr sz="1650">
                <a:solidFill>
                  <a:srgbClr val="171930"/>
                </a:solidFill>
                <a:latin typeface="Aptos"/>
              </a:defRPr>
            </a:pPr>
            <a:r>
              <a:t>•  Number of active subscriptions.</a:t>
            </a:r>
          </a:p>
          <a:p>
            <a:pPr>
              <a:spcAft>
                <a:spcPts val="900"/>
              </a:spcAft>
              <a:defRPr sz="1650">
                <a:solidFill>
                  <a:srgbClr val="171930"/>
                </a:solidFill>
                <a:latin typeface="Aptos"/>
              </a:defRPr>
            </a:pPr>
            <a:r>
              <a:t>•  Individual services and expected renewal dates.</a:t>
            </a:r>
          </a:p>
          <a:p>
            <a:pPr>
              <a:spcAft>
                <a:spcPts val="900"/>
              </a:spcAft>
              <a:defRPr sz="1650">
                <a:solidFill>
                  <a:srgbClr val="171930"/>
                </a:solidFill>
                <a:latin typeface="Aptos"/>
              </a:defRPr>
            </a:pPr>
            <a:r>
              <a:t>•  Amount expected for each upcoming renewal.</a:t>
            </a:r>
          </a:p>
          <a:p>
            <a:pPr>
              <a:spcAft>
                <a:spcPts val="900"/>
              </a:spcAft>
              <a:defRPr sz="1650">
                <a:solidFill>
                  <a:srgbClr val="171930"/>
                </a:solidFill>
                <a:latin typeface="Aptos"/>
              </a:defRPr>
            </a:pPr>
            <a:r>
              <a:t>•  Attention cues for payments due soon, such as “Tomorrow”.</a:t>
            </a:r>
          </a:p>
          <a:p>
            <a:pPr>
              <a:spcAft>
                <a:spcPts val="900"/>
              </a:spcAft>
              <a:defRPr sz="1650">
                <a:solidFill>
                  <a:srgbClr val="171930"/>
                </a:solidFill>
                <a:latin typeface="Aptos"/>
              </a:defRPr>
            </a:pPr>
            <a:r>
              <a:t>•  A management entry point for reviewing or updating tracked subscriptions.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66928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C2640"/>
                </a:solidFill>
                <a:latin typeface="Aptos"/>
              </a:rPr>
              <a:t>Customer confirmation keeps subscription tracking intentional while making recurring expenses easier to see.</a:t>
            </a:r>
          </a:p>
        </p:txBody>
      </p:sp>
      <p:pic>
        <p:nvPicPr>
          <p:cNvPr id="11" name="Picture 10" descr="subscri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2208056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2640"/>
                </a:solidFill>
                <a:latin typeface="Aptos"/>
              </a:rPr>
              <a:t>Feature 4 — Relevant News &amp; Offers via Email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640080" cy="54864"/>
          </a:xfrm>
          <a:prstGeom prst="rect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96926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C778B"/>
                </a:solidFill>
                <a:latin typeface="Aptos"/>
              </a:rPr>
              <a:t>Send useful news and relevant offers by email instead of creating another promotional area inside the 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353312"/>
            <a:ext cx="2336072" cy="4928616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C2640"/>
                </a:solidFill>
                <a:latin typeface="Aptos"/>
              </a:rPr>
              <a:t>How email relevance could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57400"/>
            <a:ext cx="65836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50">
                <a:solidFill>
                  <a:srgbClr val="171930"/>
                </a:solidFill>
                <a:latin typeface="Aptos"/>
              </a:defRPr>
            </a:pPr>
            <a:r>
              <a:t>•  Provide quick access to frequently used services such as Send Money, Airtime, Pay Bills and Transaction History.</a:t>
            </a:r>
          </a:p>
          <a:p>
            <a:pPr>
              <a:spcAft>
                <a:spcPts val="900"/>
              </a:spcAft>
              <a:defRPr sz="1550">
                <a:solidFill>
                  <a:srgbClr val="171930"/>
                </a:solidFill>
                <a:latin typeface="Aptos"/>
              </a:defRPr>
            </a:pPr>
            <a:r>
              <a:t>•  Show current promotions, discounts, free trials or service announcements from participating merchants and platforms.</a:t>
            </a:r>
          </a:p>
          <a:p>
            <a:pPr>
              <a:spcAft>
                <a:spcPts val="900"/>
              </a:spcAft>
              <a:defRPr sz="1550">
                <a:solidFill>
                  <a:srgbClr val="171930"/>
                </a:solidFill>
                <a:latin typeface="Aptos"/>
              </a:defRPr>
            </a:pPr>
            <a:r>
              <a:t>•  Prioritise offers relevant to the user's normal app activity or spending categories, where consent and privacy rules allow.</a:t>
            </a:r>
          </a:p>
          <a:p>
            <a:pPr>
              <a:spcAft>
                <a:spcPts val="900"/>
              </a:spcAft>
              <a:defRPr sz="1550">
                <a:solidFill>
                  <a:srgbClr val="171930"/>
                </a:solidFill>
                <a:latin typeface="Aptos"/>
              </a:defRPr>
            </a:pPr>
            <a:r>
              <a:t>•  Use clear labels such as “15% OFF”, “₦2,000 OFF”, “FREE” or “LIMITED” so users understand the value immediately.</a:t>
            </a:r>
          </a:p>
          <a:p>
            <a:pPr>
              <a:spcAft>
                <a:spcPts val="900"/>
              </a:spcAft>
              <a:defRPr sz="1550">
                <a:solidFill>
                  <a:srgbClr val="171930"/>
                </a:solidFill>
                <a:latin typeface="Aptos"/>
              </a:defRPr>
            </a:pPr>
            <a:r>
              <a:t>•  Give users a single place to discover useful information without interrupting the core payment flow.</a:t>
            </a:r>
          </a:p>
        </p:txBody>
      </p:sp>
      <p:pic>
        <p:nvPicPr>
          <p:cNvPr id="10" name="Picture 9" descr="em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2208056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2640"/>
                </a:solidFill>
                <a:latin typeface="Aptos"/>
              </a:rPr>
              <a:t>Proposed End-to-End User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640080" cy="54864"/>
          </a:xfrm>
          <a:prstGeom prst="rect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96926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C778B"/>
                </a:solidFill>
                <a:latin typeface="Aptos"/>
              </a:rPr>
              <a:t>The concepts can work independently, while also complementing one another.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1920240"/>
            <a:ext cx="640080" cy="640080"/>
          </a:xfrm>
          <a:prstGeom prst="ellipse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3911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2212848"/>
            <a:ext cx="1298448" cy="45720"/>
          </a:xfrm>
          <a:prstGeom prst="rect">
            <a:avLst/>
          </a:prstGeom>
          <a:solidFill>
            <a:srgbClr val="BE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7889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C2640"/>
                </a:solidFill>
                <a:latin typeface="Aptos"/>
              </a:rPr>
              <a:t>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00400"/>
            <a:ext cx="1645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6C778B"/>
                </a:solidFill>
                <a:latin typeface="Aptos"/>
              </a:rPr>
              <a:t>Capture payment details</a:t>
            </a:r>
          </a:p>
        </p:txBody>
      </p:sp>
      <p:sp>
        <p:nvSpPr>
          <p:cNvPr id="11" name="Oval 10"/>
          <p:cNvSpPr/>
          <p:nvPr/>
        </p:nvSpPr>
        <p:spPr>
          <a:xfrm>
            <a:off x="2944368" y="1920240"/>
            <a:ext cx="640080" cy="640080"/>
          </a:xfrm>
          <a:prstGeom prst="ellipse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368" y="203911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84448" y="2212848"/>
            <a:ext cx="1298448" cy="45720"/>
          </a:xfrm>
          <a:prstGeom prst="rect">
            <a:avLst/>
          </a:prstGeom>
          <a:solidFill>
            <a:srgbClr val="BE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41448" y="27889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C2640"/>
                </a:solidFill>
                <a:latin typeface="Aptos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1448" y="3200400"/>
            <a:ext cx="1645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6C778B"/>
                </a:solidFill>
                <a:latin typeface="Aptos"/>
              </a:rPr>
              <a:t>Confirm bank &amp; recipient</a:t>
            </a:r>
          </a:p>
        </p:txBody>
      </p:sp>
      <p:sp>
        <p:nvSpPr>
          <p:cNvPr id="16" name="Oval 15"/>
          <p:cNvSpPr/>
          <p:nvPr/>
        </p:nvSpPr>
        <p:spPr>
          <a:xfrm>
            <a:off x="4882896" y="1920240"/>
            <a:ext cx="640080" cy="640080"/>
          </a:xfrm>
          <a:prstGeom prst="ellipse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82896" y="203911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22976" y="2212848"/>
            <a:ext cx="1298448" cy="45720"/>
          </a:xfrm>
          <a:prstGeom prst="rect">
            <a:avLst/>
          </a:prstGeom>
          <a:solidFill>
            <a:srgbClr val="BE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9976" y="27889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C2640"/>
                </a:solidFill>
                <a:latin typeface="Aptos"/>
              </a:rPr>
              <a:t>Categorise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9976" y="3200400"/>
            <a:ext cx="1645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6C778B"/>
                </a:solidFill>
                <a:latin typeface="Aptos"/>
              </a:rPr>
              <a:t>Choose payment purpose</a:t>
            </a:r>
          </a:p>
        </p:txBody>
      </p:sp>
      <p:sp>
        <p:nvSpPr>
          <p:cNvPr id="21" name="Oval 20"/>
          <p:cNvSpPr/>
          <p:nvPr/>
        </p:nvSpPr>
        <p:spPr>
          <a:xfrm>
            <a:off x="6821424" y="1920240"/>
            <a:ext cx="640080" cy="640080"/>
          </a:xfrm>
          <a:prstGeom prst="ellipse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03911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61504" y="2212848"/>
            <a:ext cx="1298448" cy="45720"/>
          </a:xfrm>
          <a:prstGeom prst="rect">
            <a:avLst/>
          </a:prstGeom>
          <a:solidFill>
            <a:srgbClr val="BE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18504" y="27889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C2640"/>
                </a:solidFill>
                <a:latin typeface="Aptos"/>
              </a:rPr>
              <a:t>Pay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4" y="3200400"/>
            <a:ext cx="1645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6C778B"/>
                </a:solidFill>
                <a:latin typeface="Aptos"/>
              </a:rPr>
              <a:t>Complete transfer</a:t>
            </a:r>
          </a:p>
        </p:txBody>
      </p:sp>
      <p:sp>
        <p:nvSpPr>
          <p:cNvPr id="26" name="Oval 25"/>
          <p:cNvSpPr/>
          <p:nvPr/>
        </p:nvSpPr>
        <p:spPr>
          <a:xfrm>
            <a:off x="8759952" y="1920240"/>
            <a:ext cx="640080" cy="640080"/>
          </a:xfrm>
          <a:prstGeom prst="ellipse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59952" y="203911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00032" y="2212848"/>
            <a:ext cx="1298448" cy="45720"/>
          </a:xfrm>
          <a:prstGeom prst="rect">
            <a:avLst/>
          </a:prstGeom>
          <a:solidFill>
            <a:srgbClr val="BE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57032" y="27889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C2640"/>
                </a:solidFill>
                <a:latin typeface="Aptos"/>
              </a:rPr>
              <a:t>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2" y="3200400"/>
            <a:ext cx="1645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6C778B"/>
                </a:solidFill>
                <a:latin typeface="Aptos"/>
              </a:rPr>
              <a:t>Update spending records</a:t>
            </a:r>
          </a:p>
        </p:txBody>
      </p:sp>
      <p:sp>
        <p:nvSpPr>
          <p:cNvPr id="31" name="Oval 30"/>
          <p:cNvSpPr/>
          <p:nvPr/>
        </p:nvSpPr>
        <p:spPr>
          <a:xfrm>
            <a:off x="10698480" y="1920240"/>
            <a:ext cx="640080" cy="640080"/>
          </a:xfrm>
          <a:prstGeom prst="ellipse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98480" y="203911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27889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C2640"/>
                </a:solidFill>
                <a:latin typeface="Aptos"/>
              </a:rPr>
              <a:t>Inform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95560" y="3200400"/>
            <a:ext cx="1645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6C778B"/>
                </a:solidFill>
                <a:latin typeface="Aptos"/>
              </a:rPr>
              <a:t>Track subscriptions &amp; receive relevant email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70916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C99D"/>
                </a:solidFill>
                <a:latin typeface="Aptos"/>
              </a:rPr>
              <a:t>Outcome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120640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0C2640"/>
                </a:solidFill>
                <a:latin typeface="Aptos"/>
              </a:rPr>
              <a:t>A faster payment flow + clearer transaction records + better subscription awareness + more relevant opt-in email communication.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2640"/>
                </a:solidFill>
                <a:latin typeface="Aptos"/>
              </a:rPr>
              <a:t>Why This Proposal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640080" cy="54864"/>
          </a:xfrm>
          <a:prstGeom prst="rect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96926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C778B"/>
                </a:solidFill>
                <a:latin typeface="Aptos"/>
              </a:rPr>
              <a:t>The concepts focus on convenience, organisation, recurring-payment awareness and relevant customer communication.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4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5623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2640"/>
                </a:solidFill>
                <a:latin typeface="Aptos"/>
              </a:rPr>
              <a:t>Speed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C778B"/>
                </a:solidFill>
                <a:latin typeface="Aptos"/>
              </a:rPr>
              <a:t>Less manual typing during transfers.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6002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4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85623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2640"/>
                </a:solidFill>
                <a:latin typeface="Aptos"/>
              </a:rP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286000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C778B"/>
                </a:solidFill>
                <a:latin typeface="Aptos"/>
              </a:rPr>
              <a:t>Reduced account-number entry mistakes with a verification step.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6002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4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185623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2640"/>
                </a:solidFill>
                <a:latin typeface="Aptos"/>
              </a:rPr>
              <a:t>Organisation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286000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C778B"/>
                </a:solidFill>
                <a:latin typeface="Aptos"/>
              </a:rPr>
              <a:t>Consistent categories create cleaner transaction histories.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4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91363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2640"/>
                </a:solidFill>
                <a:latin typeface="Aptos"/>
              </a:rPr>
              <a:t>Awareness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343400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C778B"/>
                </a:solidFill>
                <a:latin typeface="Aptos"/>
              </a:rPr>
              <a:t>Subscription visibility helps users anticipate recurring expenses.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6576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4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391363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2640"/>
                </a:solidFill>
                <a:latin typeface="Aptos"/>
              </a:rPr>
              <a:t>Engagement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4343400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C778B"/>
                </a:solidFill>
                <a:latin typeface="Aptos"/>
              </a:rPr>
              <a:t>Relevant opt-in emails can reduce unrelated promotional communication.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36576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4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391363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2640"/>
                </a:solidFill>
                <a:latin typeface="Aptos"/>
              </a:rPr>
              <a:t>Insight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4343400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C778B"/>
                </a:solidFill>
                <a:latin typeface="Aptos"/>
              </a:rPr>
              <a:t>Structured transaction data can strengthen future Digital Paymental Wrap summaries and personal finance features.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2640"/>
                </a:solidFill>
                <a:latin typeface="Aptos"/>
              </a:rPr>
              <a:t>Recommended MVP &amp; Implementation Considerations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640080" cy="54864"/>
          </a:xfrm>
          <a:prstGeom prst="rect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96926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C778B"/>
                </a:solidFill>
                <a:latin typeface="Aptos"/>
              </a:rPr>
              <a:t>Prototype the concepts independently, validate customer value, and prioritise privacy and user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C2640"/>
                </a:solidFill>
                <a:latin typeface="Aptos"/>
              </a:rPr>
              <a:t>MVP priority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840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71930"/>
                </a:solidFill>
                <a:latin typeface="Aptos"/>
              </a:defRPr>
            </a:pPr>
            <a:r>
              <a:t>•  1. Scan account number</a:t>
            </a:r>
          </a:p>
          <a:p>
            <a:pPr>
              <a:spcAft>
                <a:spcPts val="900"/>
              </a:spcAft>
              <a:defRPr sz="1700">
                <a:solidFill>
                  <a:srgbClr val="171930"/>
                </a:solidFill>
                <a:latin typeface="Aptos"/>
              </a:defRPr>
            </a:pPr>
            <a:r>
              <a:t>•  2. Confirm bank and recipient</a:t>
            </a:r>
          </a:p>
          <a:p>
            <a:pPr>
              <a:spcAft>
                <a:spcPts val="900"/>
              </a:spcAft>
              <a:defRPr sz="1700">
                <a:solidFill>
                  <a:srgbClr val="171930"/>
                </a:solidFill>
                <a:latin typeface="Aptos"/>
              </a:defRPr>
            </a:pPr>
            <a:r>
              <a:t>•  3. Select payment category</a:t>
            </a:r>
          </a:p>
          <a:p>
            <a:pPr>
              <a:spcAft>
                <a:spcPts val="900"/>
              </a:spcAft>
              <a:defRPr sz="1700">
                <a:solidFill>
                  <a:srgbClr val="171930"/>
                </a:solidFill>
                <a:latin typeface="Aptos"/>
              </a:defRPr>
            </a:pPr>
            <a:r>
              <a:t>•  4. Save category with transaction</a:t>
            </a:r>
          </a:p>
          <a:p>
            <a:pPr>
              <a:spcAft>
                <a:spcPts val="900"/>
              </a:spcAft>
              <a:defRPr sz="1700">
                <a:solidFill>
                  <a:srgbClr val="171930"/>
                </a:solidFill>
                <a:latin typeface="Aptos"/>
              </a:defRPr>
            </a:pPr>
            <a:r>
              <a:t>•  5. Add subscription dashboard</a:t>
            </a:r>
          </a:p>
          <a:p>
            <a:pPr>
              <a:spcAft>
                <a:spcPts val="900"/>
              </a:spcAft>
              <a:defRPr sz="1700">
                <a:solidFill>
                  <a:srgbClr val="171930"/>
                </a:solidFill>
                <a:latin typeface="Aptos"/>
              </a:defRPr>
            </a:pPr>
            <a:r>
              <a:t>•  6. Add consent-based email news/offers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5087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C2640"/>
                </a:solidFill>
                <a:latin typeface="Aptos"/>
              </a:rPr>
              <a:t>Key safeguards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965960"/>
            <a:ext cx="6492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71930"/>
                </a:solidFill>
                <a:latin typeface="Aptos"/>
              </a:defRPr>
            </a:pPr>
            <a:r>
              <a:t>•  Always keep manual entry available.</a:t>
            </a:r>
          </a:p>
          <a:p>
            <a:pPr>
              <a:spcAft>
                <a:spcPts val="900"/>
              </a:spcAft>
              <a:defRPr sz="1600">
                <a:solidFill>
                  <a:srgbClr val="171930"/>
                </a:solidFill>
                <a:latin typeface="Aptos"/>
              </a:defRPr>
            </a:pPr>
            <a:r>
              <a:t>•  Never rely on image recognition alone to validate a recipient; use the bank/account verification service.</a:t>
            </a:r>
          </a:p>
          <a:p>
            <a:pPr>
              <a:spcAft>
                <a:spcPts val="900"/>
              </a:spcAft>
              <a:defRPr sz="1600">
                <a:solidFill>
                  <a:srgbClr val="171930"/>
                </a:solidFill>
                <a:latin typeface="Aptos"/>
              </a:defRPr>
            </a:pPr>
            <a:r>
              <a:t>•  Ask users to confirm the recipient name before payment.</a:t>
            </a:r>
          </a:p>
          <a:p>
            <a:pPr>
              <a:spcAft>
                <a:spcPts val="900"/>
              </a:spcAft>
              <a:defRPr sz="1600">
                <a:solidFill>
                  <a:srgbClr val="171930"/>
                </a:solidFill>
                <a:latin typeface="Aptos"/>
              </a:defRPr>
            </a:pPr>
            <a:r>
              <a:t>•  Handle unclear images and unsupported formats gracefully.</a:t>
            </a:r>
          </a:p>
          <a:p>
            <a:pPr>
              <a:spcAft>
                <a:spcPts val="900"/>
              </a:spcAft>
              <a:defRPr sz="1600">
                <a:solidFill>
                  <a:srgbClr val="171930"/>
                </a:solidFill>
                <a:latin typeface="Aptos"/>
              </a:defRPr>
            </a:pPr>
            <a:r>
              <a:t>•  Use category-based email personalisation only with appropriate consent, privacy controls, transparent data use and easy unsubscribe options.</a:t>
            </a:r>
          </a:p>
          <a:p>
            <a:pPr>
              <a:spcAft>
                <a:spcPts val="900"/>
              </a:spcAft>
              <a:defRPr sz="1600">
                <a:solidFill>
                  <a:srgbClr val="171930"/>
                </a:solidFill>
                <a:latin typeface="Aptos"/>
              </a:defRPr>
            </a:pPr>
            <a:r>
              <a:t>•  Measure scan success rate, correction rate, completion time and category-selection rate.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ptos"/>
              </a:rPr>
              <a:t>Small payment improvements can create a clearer and more useful customer experience.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8036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0C99D"/>
                </a:solidFill>
                <a:latin typeface="Aptos"/>
              </a:rPr>
              <a:t>Scan → Verify → Categorise → Identify Subscription → Track → Email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977639"/>
            <a:ext cx="8503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CFDCE9"/>
                </a:solidFill>
                <a:latin typeface="Aptos"/>
              </a:rPr>
              <a:t>Concept next step: prototype Scan-to-Pay, categorisation and subscription identification, then test usability, accuracy and customer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56235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